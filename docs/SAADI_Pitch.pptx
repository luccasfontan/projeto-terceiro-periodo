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09115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TRACK – SLIDE 1 (CAPA)
Bom dia/Boa tarde, professores e banca avaliadora. É com grande satisfação que apresentamos hoje o SAADI — Sistema de Acompanhamento da Educação Inclusiva.
O SAADI nasceu de uma pergunta simples mas urgente: como as escolas brasileiras gerenciam seus alunos com necessidades especiais? A resposta que encontramos foi preocupante — e foi ela que nos motivou a construir essa solução.
Meu nome é [seu nome], e junto com [nome do colega], desenvolvemos este projeto como Projeto Integrador do curso de Sistemas de Informação no CESMAC. Vamos apresentar não apenas uma plataforma tecnológica, mas uma solução que pode transformar a vida de milhares de alunos e profissionais da educação inclusiva.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TRACK – SLIDE 2 (CONTEXTO)
O Brasil tem hoje mais de 1,5 milhão de alunos com necessidades especiais matriculados em escolas regulares. E esse número cresce cerca de 9% ao ano, impulsionado pela Lei Brasileira de Inclusão e pela política nacional de educação especial.
Mais da metade das escolas brasileiras já têm alunos incluídos. E esse número só cresce. Mas a infraestrutura de gestão não acompanhou esse crescimento. A pergunta que nos fizemos foi: onde estão os sistemas que dão suporte a essa realidade? A resposta está no próximo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TRACK – SLIDE 3 (O PROBLEMA)
Vocês já tentaram encontrar o laudo de um aluno que ingressou há 3 anos, quando a psicopedagoga anterior saiu da escola? Pois é. Esse é o cotidiano de coordenadores e professores de AEE em todo o Brasil.
Identificamos quatro problemas centrais: laudos e planos físicos que se perdem; planilhas isoladas que não se comunicam; dados confidenciais de crianças acessíveis sem controle de acesso; e a perda do histórico quando um profissional é substituído.
Isso não é apenas ineficiência administrativa. Quando um aluno com TEA chega a uma escola sem que ninguém tenha acesso ao seu histórico de triagens, ele perde suporte. É uma falha com consequências humanas reais.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TRACK – SLIDE 4 (VALIDAÇÃO)
Nós não desenvolvemos o SAADI no vácuo. Antes de escrever uma linha de código, ouvimos o mercado.
Nossa pesquisa revelou que 90% das escolas pesquisadas atendem alunos de educação inclusiva — confirmando a amplitude do problema. Mas o dado mais impactante é este: dessas mesmas escolas, 90% não utilizam nenhum sistema específico para esse fim.
80% dos profissionais relatam grandes dificuldades operacionais no dia a dia. E quando apresentamos a proposta do SAADI, 90% afirmaram que adotariam a ferramenta.
Isso não é otimismo. É validação de mercado real. Existe uma demanda represada, um problema sem solução — e o SAADI é a resposta.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TRACK – SLIDE 5 (CONTRASTE)
Permitam-me mostrar exatamente o que muda com o SAADI.
À esquerda, o cenário que encontramos nas escolas: laudos em armários físicos, planilhas sem integração, dados confidenciais de crianças acessíveis por qualquer funcionário, histórico perdido quando o profissional sai, e horas desperdiçadas procurando informação.
À direita, a realidade com o SAADI: documentos digitais seguros na nuvem, módulos integrados comunicando em tempo real, isolamento de dados por escola — cada unidade só enxerga seus próprios alunos — histórico permanente e rastreável, e acesso instantâneo ao que o profissional precisa.
Essa não é apenas uma mudança de ferramenta. É uma transformação na qualidade do atendimento.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TRACK – SLIDE 6 (A SOLUÇÃO)
O SAADI é uma plataforma web integrada, desenvolvida com Flask no back-end e HTML, CSS e JavaScript puro no front-end. Simples de implantar, sem necessidade de infraestrutura complexa.
A plataforma tem quatro pilares fundamentais: integração — todos os dados em um único lugar; multi-perfil — cada usuário acessa apenas o que é relevante para sua função; personalização — cada aluno tem seu próprio plano de acompanhamento; e acessibilidade — a plataforma foi construída seguindo as diretrizes WCAG 2.1 AA, porque uma ferramenta de educação inclusiva precisa ser, ela mesma, inclusiva.
O SAADI não é mais uma ferramenta de gestão genérica adaptada. É o primeiro sistema pensado de dentro para fora para a realidade da educação inclusiva brasileira.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TRACK – SLIDE 7 (COMO FUNCIONA)
O SAADI é estruturado em três módulos que se comunicam em tempo real, mas com controle rigoroso de quem pode ver o quê.
O módulo de Secretaria Escolar é o ponto de entrada: cadastro completo do aluno, upload de documentos e laudos, gestão das matrículas e vinculação com a equipe técnica.
O módulo de Psicopedagogos e AEE é o coração clínico do sistema: triagens, planos individualizados, relatórios confidenciais e o histórico evolutivo de cada aluno ao longo do tempo.
E o módulo de Gestão Central dá ao coordenador ou secretário municipal uma visão consolidada: quantos alunos estão sendo atendidos, quais escolas têm mais demanda, quem tem acesso a quê.
Os três módulos integrados eliminam a fragmentação que existe hoje.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TRACK – SLIDE 8 (SEGURANÇA)
Estamos lidando com dados de crianças com necessidades especiais — laudos médicos, históricos de triagem, planos terapêuticos. Nada disso pode vazar.
Por isso, o SAADI foi arquitetado com segurança em primeiro lugar. O isolamento multi-tenant garante que a Escola A nunca acessa dados da Escola B, mesmo que ambas usem o mesmo servidor. É um muro digital entre as instituições.
A autenticação usa cookies HttpOnly com JWT, o que elimina a vulnerabilidade de ataques XSS que afetam sistemas com tokens no localStorage.
E a acessibilidade WCAG 2.1 nível AA não é um detalhe — é uma declaração de valores. Um sistema de educação inclusiva que não é acessível para profissionais com deficiência visual é uma contradição. O SAADI é acessível para quem o usa e para quem é atendido por ele.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TRACK – SLIDE 9 (FUTURO)
O que entregamos hoje é o MVP — sólido, seguro, funcional. Mas o SAADI é pensado para crescer.
Na Fase 2, nosso grande salto é a integração de inteligência artificial para triagem preliminar. Imagine: o profissional insere as observações iniciais sobre o aluno, e o sistema sugere os próximos passos baseado em padrões de centenas de casos semelhantes. Estimamos uma redução de até 70% no tempo de avaliação inicial.
Na Fase 3, o objetivo é a escala pública: parcerias com prefeituras, integração com o Censo Escolar do INEP, e relatórios preditivos que ajudam gestores municipais a identificar onde a rede precisa de mais recursos.
O SAADI começa na escola. Mas pode transformar políticas públicas de inclusão em todo o Brasil.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TRACK – SLIDE 10 (CONCLUSÃO)
Chegamos ao final da apresentação, mas queremos deixar algumas ideias com vocês.
O problema existe e é grande: mais de 1,5 milhão de alunos, 90% das escolas sem sistema específico. A validação é clara: 90% dos profissionais adotariam o SAADI. A solução está construída: segura, acessível, modular e escalável.
O SAADI não é apenas nosso Projeto Integrador. É uma ferramenta que pode mudar a vida de alunos que hoje dependem de papéis em gavetas para receberem o atendimento que merecem.
Nós, Jair e Lucas, acreditamos que a tecnologia tem o dever de ser inclusiva — não só no que oferece, mas em como foi construída. E foi com esse propósito que desenvolvemos o SAADI no CESMAC.
Estamos abertos para perguntas. Muito obrigado!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22D6B"/>
          </a:solidFill>
          <a:ln w="12700">
            <a:solidFill>
              <a:srgbClr val="122D6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411480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64008" cy="25603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685800" y="91440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SAADI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685800" y="205740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Acompanhamento da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Educação Inclusiva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0632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 a serviço da dignidade e do aprendizado</a:t>
            </a:r>
            <a:endParaRPr lang="en-US" sz="13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640080"/>
            <a:ext cx="1097280" cy="10972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126480" y="19202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Integrador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de Informação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126480" y="25603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CESMAC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6126480" y="310896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Jair Pereira Barcelos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Lucas Fontan Fernandes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WCAG 2.1 AA  ·  Flask + HTML/CSS/JS  ·  Multi-tenant  ·  JWT Seguro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4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CONTEXTO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Educação Inclusiva no Brasil está crescendo. As escolas estão prontas?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26517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265176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132588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65760" y="192024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122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2M+</a:t>
            </a:r>
            <a:endParaRPr lang="en-US" sz="4200" dirty="0"/>
          </a:p>
        </p:txBody>
      </p:sp>
      <p:sp>
        <p:nvSpPr>
          <p:cNvPr id="9" name="Text 6"/>
          <p:cNvSpPr/>
          <p:nvPr/>
        </p:nvSpPr>
        <p:spPr>
          <a:xfrm>
            <a:off x="365760" y="274320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Alunos com necessidades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especiais matriculados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200400" y="1188720"/>
            <a:ext cx="26517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3200400" y="1188720"/>
            <a:ext cx="265176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1960" y="1325880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200400" y="192024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122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9,3%</a:t>
            </a:r>
            <a:endParaRPr lang="en-US" sz="4200" dirty="0"/>
          </a:p>
        </p:txBody>
      </p:sp>
      <p:sp>
        <p:nvSpPr>
          <p:cNvPr id="14" name="Text 10"/>
          <p:cNvSpPr/>
          <p:nvPr/>
        </p:nvSpPr>
        <p:spPr>
          <a:xfrm>
            <a:off x="3200400" y="274320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Crescimento</a:t>
            </a: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anual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</a:t>
            </a:r>
            <a:r>
              <a:rPr lang="en-US" sz="13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matrículas</a:t>
            </a: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inclusivas</a:t>
            </a: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2015 - 2024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035040" y="1188720"/>
            <a:ext cx="26517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Shape 12"/>
          <p:cNvSpPr/>
          <p:nvPr/>
        </p:nvSpPr>
        <p:spPr>
          <a:xfrm>
            <a:off x="6035040" y="1188720"/>
            <a:ext cx="265176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6600" y="1325880"/>
            <a:ext cx="502920" cy="5029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035040" y="192024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122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92,6%</a:t>
            </a:r>
            <a:endParaRPr lang="en-US" sz="4200" dirty="0"/>
          </a:p>
        </p:txBody>
      </p:sp>
      <p:sp>
        <p:nvSpPr>
          <p:cNvPr id="19" name="Text 14"/>
          <p:cNvSpPr/>
          <p:nvPr/>
        </p:nvSpPr>
        <p:spPr>
          <a:xfrm>
            <a:off x="6035040" y="274320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</a:t>
            </a:r>
            <a:r>
              <a:rPr lang="en-US" sz="13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mastrículas</a:t>
            </a: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3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alunos</a:t>
            </a: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 </a:t>
            </a:r>
            <a:r>
              <a:rPr lang="en-US" sz="13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deficiência</a:t>
            </a: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estão</a:t>
            </a: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</a:t>
            </a: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classes </a:t>
            </a:r>
            <a:r>
              <a:rPr lang="en-US" sz="13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comuns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365760" y="3931920"/>
            <a:ext cx="8412480" cy="777240"/>
          </a:xfrm>
          <a:prstGeom prst="rect">
            <a:avLst/>
          </a:prstGeom>
          <a:solidFill>
            <a:srgbClr val="1A3A8F"/>
          </a:solidFill>
          <a:ln w="12700">
            <a:solidFill>
              <a:srgbClr val="1A3A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6"/>
          <p:cNvSpPr/>
          <p:nvPr/>
        </p:nvSpPr>
        <p:spPr>
          <a:xfrm>
            <a:off x="548640" y="397764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Crescimento acelerado exige sistemas de gestão modernos, seguros e acessíveis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5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realidade caótica da gestão inclusiva hoje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4114800" cy="1463040"/>
          </a:xfrm>
          <a:prstGeom prst="rect">
            <a:avLst/>
          </a:prstGeom>
          <a:solidFill>
            <a:srgbClr val="122D6B"/>
          </a:solidFill>
          <a:ln w="12700">
            <a:solidFill>
              <a:srgbClr val="1A3A8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78308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153619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C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Papéis perdidos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143000" y="1901952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Laudos, triagens e planos de AEE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armazenados em gavetas e pastas físicas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754880" y="1371600"/>
            <a:ext cx="4114800" cy="1463040"/>
          </a:xfrm>
          <a:prstGeom prst="rect">
            <a:avLst/>
          </a:prstGeom>
          <a:solidFill>
            <a:srgbClr val="122D6B"/>
          </a:solidFill>
          <a:ln w="12700">
            <a:solidFill>
              <a:srgbClr val="1A3A8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178308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532120" y="153619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C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Planilhas isoladas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5532120" y="1901952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espalhados em Excel sem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entre secretaria e equipe técnica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365760" y="3017520"/>
            <a:ext cx="4114800" cy="1463040"/>
          </a:xfrm>
          <a:prstGeom prst="rect">
            <a:avLst/>
          </a:prstGeom>
          <a:solidFill>
            <a:srgbClr val="122D6B"/>
          </a:solidFill>
          <a:ln w="12700">
            <a:solidFill>
              <a:srgbClr val="1A3A8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" y="3429000"/>
            <a:ext cx="502920" cy="50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43000" y="318211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C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sem segurança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143000" y="3547872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Informações confidenciais de alunos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acessíveis por qualquer funcionário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4754880" y="3017520"/>
            <a:ext cx="4114800" cy="1463040"/>
          </a:xfrm>
          <a:prstGeom prst="rect">
            <a:avLst/>
          </a:prstGeom>
          <a:solidFill>
            <a:srgbClr val="122D6B"/>
          </a:solidFill>
          <a:ln w="12700">
            <a:solidFill>
              <a:srgbClr val="1A3A8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9472" y="3429000"/>
            <a:ext cx="502920" cy="5029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532120" y="318211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C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continuidade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5532120" y="3547872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Troca de profissional = perda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histórico do aluno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365760" y="4663440"/>
            <a:ext cx="8412480" cy="2926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5"/>
          <p:cNvSpPr/>
          <p:nvPr/>
        </p:nvSpPr>
        <p:spPr>
          <a:xfrm>
            <a:off x="457200" y="46817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alunos que precisam de atenção especial ficam sem acompanhamento adequado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5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DE MERCADO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 com gestores e profissionais de educação inclusiva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20116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2011680" cy="73152"/>
          </a:xfrm>
          <a:prstGeom prst="rect">
            <a:avLst/>
          </a:prstGeom>
          <a:solidFill>
            <a:srgbClr val="1A3A8F"/>
          </a:solidFill>
          <a:ln w="12700">
            <a:solidFill>
              <a:srgbClr val="1A3A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274320" y="146304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1A3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274320" y="2514600"/>
            <a:ext cx="20116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escolas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atende educação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inclusiva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450592" y="1143000"/>
            <a:ext cx="20116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2450592" y="1143000"/>
            <a:ext cx="2011680" cy="73152"/>
          </a:xfrm>
          <a:prstGeom prst="rect">
            <a:avLst/>
          </a:prstGeom>
          <a:solidFill>
            <a:srgbClr val="9B1C1C"/>
          </a:solidFill>
          <a:ln w="12700">
            <a:solidFill>
              <a:srgbClr val="9B1C1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2450592" y="146304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9B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2450592" y="2514600"/>
            <a:ext cx="20116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 err="1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r>
              <a:rPr lang="en-US" sz="13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usa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específico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26864" y="1143000"/>
            <a:ext cx="20116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4626864" y="1143000"/>
            <a:ext cx="2011680" cy="73152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4626864" y="146304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5200" dirty="0"/>
          </a:p>
        </p:txBody>
      </p:sp>
      <p:sp>
        <p:nvSpPr>
          <p:cNvPr id="16" name="Text 14"/>
          <p:cNvSpPr/>
          <p:nvPr/>
        </p:nvSpPr>
        <p:spPr>
          <a:xfrm>
            <a:off x="4626864" y="2514600"/>
            <a:ext cx="20116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enfrenta grandes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dificuldades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operacionais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803136" y="1143000"/>
            <a:ext cx="20116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6803136" y="1143000"/>
            <a:ext cx="2011680" cy="73152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6803136" y="146304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5200" dirty="0"/>
          </a:p>
        </p:txBody>
      </p:sp>
      <p:sp>
        <p:nvSpPr>
          <p:cNvPr id="20" name="Text 18"/>
          <p:cNvSpPr/>
          <p:nvPr/>
        </p:nvSpPr>
        <p:spPr>
          <a:xfrm>
            <a:off x="6803136" y="2514600"/>
            <a:ext cx="20116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adotaria uma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como o SAADI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pesquisa primária conduzida com gestores escolares e profissionais de educação inclusiva · 2026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97680" cy="5143500"/>
          </a:xfrm>
          <a:prstGeom prst="rect">
            <a:avLst/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4846320" y="0"/>
            <a:ext cx="4297680" cy="5143500"/>
          </a:xfrm>
          <a:prstGeom prst="rect">
            <a:avLst/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4297680" y="0"/>
            <a:ext cx="54864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4526280" y="0"/>
            <a:ext cx="91440" cy="5143500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4297680" cy="777240"/>
          </a:xfrm>
          <a:prstGeom prst="rect">
            <a:avLst/>
          </a:prstGeom>
          <a:solidFill>
            <a:srgbClr val="9B1C1C"/>
          </a:solidFill>
          <a:ln w="12700">
            <a:solidFill>
              <a:srgbClr val="9B1C1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0" y="0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846320" y="0"/>
            <a:ext cx="4297680" cy="77724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4846320" y="0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  •  SAADI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28600" y="1005840"/>
            <a:ext cx="39319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spcAft>
                <a:spcPts val="1200"/>
              </a:spcAft>
              <a:buNone/>
            </a:pPr>
            <a:r>
              <a:rPr lang="en-US" sz="13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Laudos físicos em armários</a:t>
            </a:r>
            <a:endParaRPr lang="en-US" sz="1350" dirty="0"/>
          </a:p>
          <a:p>
            <a:pPr marL="0" indent="0" algn="ctr">
              <a:spcAft>
                <a:spcPts val="1200"/>
              </a:spcAft>
              <a:buNone/>
            </a:pPr>
            <a:r>
              <a:rPr lang="en-US" sz="13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Planilhas descentralizadas</a:t>
            </a:r>
            <a:endParaRPr lang="en-US" sz="1350" dirty="0"/>
          </a:p>
          <a:p>
            <a:pPr marL="0" indent="0" algn="ctr">
              <a:spcAft>
                <a:spcPts val="1200"/>
              </a:spcAft>
              <a:buNone/>
            </a:pPr>
            <a:r>
              <a:rPr lang="en-US" sz="13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Dados confidenciais expostos</a:t>
            </a:r>
            <a:endParaRPr lang="en-US" sz="1350" dirty="0"/>
          </a:p>
          <a:p>
            <a:pPr marL="0" indent="0" algn="ctr">
              <a:spcAft>
                <a:spcPts val="1200"/>
              </a:spcAft>
              <a:buNone/>
            </a:pPr>
            <a:r>
              <a:rPr lang="en-US" sz="13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Histórico perdido na troca de profissional</a:t>
            </a:r>
            <a:endParaRPr lang="en-US" sz="1350" dirty="0"/>
          </a:p>
          <a:p>
            <a:pPr marL="0" indent="0" algn="ctr">
              <a:spcAft>
                <a:spcPts val="1200"/>
              </a:spcAft>
              <a:buNone/>
            </a:pPr>
            <a:r>
              <a:rPr lang="en-US" sz="13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Horas de busca manual por informação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029200" y="1005840"/>
            <a:ext cx="39319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spcAft>
                <a:spcPts val="1200"/>
              </a:spcAft>
              <a:buNone/>
            </a:pPr>
            <a:r>
              <a:rPr lang="en-US" sz="1350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Documentos digitais centralizados</a:t>
            </a:r>
            <a:endParaRPr lang="en-US" sz="1350" dirty="0"/>
          </a:p>
          <a:p>
            <a:pPr marL="0" indent="0" algn="ctr">
              <a:spcAft>
                <a:spcPts val="1200"/>
              </a:spcAft>
              <a:buNone/>
            </a:pPr>
            <a:r>
              <a:rPr lang="en-US" sz="1350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Módulos integrados em tempo real</a:t>
            </a:r>
            <a:endParaRPr lang="en-US" sz="1350" dirty="0"/>
          </a:p>
          <a:p>
            <a:pPr marL="0" indent="0" algn="ctr">
              <a:spcAft>
                <a:spcPts val="1200"/>
              </a:spcAft>
              <a:buNone/>
            </a:pPr>
            <a:r>
              <a:rPr lang="en-US" sz="1350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Isolamento multi-tenant por escola</a:t>
            </a:r>
            <a:endParaRPr lang="en-US" sz="1350" dirty="0"/>
          </a:p>
          <a:p>
            <a:pPr marL="0" indent="0" algn="ctr">
              <a:spcAft>
                <a:spcPts val="1200"/>
              </a:spcAft>
              <a:buNone/>
            </a:pPr>
            <a:r>
              <a:rPr lang="en-US" sz="1350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Histórico permanente e rastreável</a:t>
            </a:r>
            <a:endParaRPr lang="en-US" sz="1350" dirty="0"/>
          </a:p>
          <a:p>
            <a:pPr marL="0" indent="0" algn="ctr">
              <a:spcAft>
                <a:spcPts val="1200"/>
              </a:spcAft>
              <a:buNone/>
            </a:pPr>
            <a:r>
              <a:rPr lang="en-US" sz="1350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Acesso instantâneo e seguro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5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SOLUÇÃO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SAADI: o hub digital seguro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educação inclusiva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874520"/>
            <a:ext cx="4023360" cy="1325880"/>
          </a:xfrm>
          <a:prstGeom prst="rect">
            <a:avLst/>
          </a:prstGeom>
          <a:solidFill>
            <a:srgbClr val="122D6B"/>
          </a:solidFill>
          <a:ln w="12700">
            <a:solidFill>
              <a:srgbClr val="1A3A8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221992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70432" y="198424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C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Web Integrada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170432" y="2350008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+ HTML/CSS/JS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unificado e responsivo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663440" y="1874520"/>
            <a:ext cx="4023360" cy="1325880"/>
          </a:xfrm>
          <a:prstGeom prst="rect">
            <a:avLst/>
          </a:prstGeom>
          <a:solidFill>
            <a:srgbClr val="122D6B"/>
          </a:solidFill>
          <a:ln w="12700">
            <a:solidFill>
              <a:srgbClr val="1A3A8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2221992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68112" y="198424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C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Multi-perfil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468112" y="2350008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Secretaria, Psicopedagogos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Gestão Central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365760" y="3337560"/>
            <a:ext cx="4023360" cy="1325880"/>
          </a:xfrm>
          <a:prstGeom prst="rect">
            <a:avLst/>
          </a:prstGeom>
          <a:solidFill>
            <a:srgbClr val="122D6B"/>
          </a:solidFill>
          <a:ln w="12700">
            <a:solidFill>
              <a:srgbClr val="1A3A8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685032"/>
            <a:ext cx="502920" cy="5029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170432" y="344728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C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Planos Personalizados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1170432" y="3813048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PEI e AEE adaptados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cada aluno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4663440" y="3337560"/>
            <a:ext cx="4023360" cy="1325880"/>
          </a:xfrm>
          <a:prstGeom prst="rect">
            <a:avLst/>
          </a:prstGeom>
          <a:solidFill>
            <a:srgbClr val="122D6B"/>
          </a:solidFill>
          <a:ln w="12700">
            <a:solidFill>
              <a:srgbClr val="1A3A8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3685032"/>
            <a:ext cx="502920" cy="50292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468112" y="344728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C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Acessibilidade WCAG 2.1 AA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5468112" y="3813048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inclusiva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todos os usuários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0" y="498348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5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módulos, uma plataforma integrada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269748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2697480" cy="64008"/>
          </a:xfrm>
          <a:prstGeom prst="rect">
            <a:avLst/>
          </a:prstGeom>
          <a:solidFill>
            <a:srgbClr val="1A3A8F"/>
          </a:solidFill>
          <a:ln w="12700">
            <a:solidFill>
              <a:srgbClr val="1A3A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132588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20040" y="1920240"/>
            <a:ext cx="2697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3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Secretaria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A3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Escolar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2697480"/>
            <a:ext cx="24231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15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Cadastro completo do aluno</a:t>
            </a:r>
            <a:endParaRPr lang="en-US" sz="11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5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Upload de documentos e laudos</a:t>
            </a:r>
            <a:endParaRPr lang="en-US" sz="11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5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Gestão de matrículas inclusivas</a:t>
            </a:r>
            <a:endParaRPr lang="en-US" sz="11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5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Vinculação com profissionais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200400" y="1143000"/>
            <a:ext cx="269748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3200400" y="1143000"/>
            <a:ext cx="2697480" cy="64008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1325880"/>
            <a:ext cx="548640" cy="5486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200400" y="1920240"/>
            <a:ext cx="2697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Psicopedagogos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AEE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337560" y="2697480"/>
            <a:ext cx="24231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15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Triagens psicopedagógicas</a:t>
            </a:r>
            <a:endParaRPr lang="en-US" sz="11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5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Planos de Atendimento Individualizado</a:t>
            </a:r>
            <a:endParaRPr lang="en-US" sz="11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5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Relatórios confidenciais</a:t>
            </a:r>
            <a:endParaRPr lang="en-US" sz="11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5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Histórico evolutivo do aluno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080760" y="1143000"/>
            <a:ext cx="269748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Shape 12"/>
          <p:cNvSpPr/>
          <p:nvPr/>
        </p:nvSpPr>
        <p:spPr>
          <a:xfrm>
            <a:off x="6080760" y="1143000"/>
            <a:ext cx="269748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8040" y="1325880"/>
            <a:ext cx="548640" cy="5486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080760" y="1920240"/>
            <a:ext cx="2697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217920" y="2697480"/>
            <a:ext cx="24231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15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Dashboard consolidado</a:t>
            </a:r>
            <a:endParaRPr lang="en-US" sz="11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5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Visão multi-escola (multi-tenant)</a:t>
            </a:r>
            <a:endParaRPr lang="en-US" sz="11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5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Controle de acessos e perfis</a:t>
            </a:r>
            <a:endParaRPr lang="en-US" sz="11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5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Exportação e relatórios gerenciais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3017520" y="2971800"/>
            <a:ext cx="32004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6"/>
          <p:cNvSpPr/>
          <p:nvPr/>
        </p:nvSpPr>
        <p:spPr>
          <a:xfrm>
            <a:off x="5897880" y="2971800"/>
            <a:ext cx="32004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5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&amp; INCLUSÃO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protegidos. Plataforma acessível para todos.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4114800" cy="1463040"/>
          </a:xfrm>
          <a:prstGeom prst="rect">
            <a:avLst/>
          </a:prstGeom>
          <a:solidFill>
            <a:srgbClr val="122D6B"/>
          </a:solidFill>
          <a:ln w="12700">
            <a:solidFill>
              <a:srgbClr val="1A3A8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3291840" y="1435608"/>
            <a:ext cx="1051560" cy="274320"/>
          </a:xfrm>
          <a:prstGeom prst="roundRect">
            <a:avLst>
              <a:gd name="adj" fmla="val 13333"/>
            </a:avLst>
          </a:prstGeom>
          <a:solidFill>
            <a:srgbClr val="1A3A8F"/>
          </a:solidFill>
          <a:ln w="12700">
            <a:solidFill>
              <a:srgbClr val="1A3A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3291840" y="1435608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</a:t>
            </a:r>
            <a:endParaRPr lang="en-US" sz="8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78308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15568" y="1435608"/>
            <a:ext cx="2971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Isolamento Multi-tenant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115568" y="182880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escola isolada por unidade_id.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dado vaza entre instituições.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754880" y="1325880"/>
            <a:ext cx="4114800" cy="1463040"/>
          </a:xfrm>
          <a:prstGeom prst="rect">
            <a:avLst/>
          </a:prstGeom>
          <a:solidFill>
            <a:srgbClr val="122D6B"/>
          </a:solidFill>
          <a:ln w="12700">
            <a:solidFill>
              <a:srgbClr val="1A3A8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7680960" y="1435608"/>
            <a:ext cx="1051560" cy="274320"/>
          </a:xfrm>
          <a:prstGeom prst="roundRect">
            <a:avLst>
              <a:gd name="adj" fmla="val 13333"/>
            </a:avLst>
          </a:prstGeom>
          <a:solidFill>
            <a:srgbClr val="1A3A8F"/>
          </a:solidFill>
          <a:ln w="12700">
            <a:solidFill>
              <a:srgbClr val="1A3A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7680960" y="1435608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Autenticação</a:t>
            </a:r>
            <a:endParaRPr lang="en-US" sz="8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178308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504688" y="1435608"/>
            <a:ext cx="2971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Cookies HttpOnly + JWT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5504688" y="182880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Autenticação segura com tokens JWT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cookies HttpOnly — proteção contra XSS.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365760" y="2926080"/>
            <a:ext cx="4114800" cy="1463040"/>
          </a:xfrm>
          <a:prstGeom prst="rect">
            <a:avLst/>
          </a:prstGeom>
          <a:solidFill>
            <a:srgbClr val="122D6B"/>
          </a:solidFill>
          <a:ln w="12700">
            <a:solidFill>
              <a:srgbClr val="1A3A8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Shape 14"/>
          <p:cNvSpPr/>
          <p:nvPr/>
        </p:nvSpPr>
        <p:spPr>
          <a:xfrm>
            <a:off x="3291840" y="3035808"/>
            <a:ext cx="1051560" cy="274320"/>
          </a:xfrm>
          <a:prstGeom prst="roundRect">
            <a:avLst>
              <a:gd name="adj" fmla="val 13333"/>
            </a:avLst>
          </a:prstGeom>
          <a:solidFill>
            <a:srgbClr val="1A3A8F"/>
          </a:solidFill>
          <a:ln w="12700">
            <a:solidFill>
              <a:srgbClr val="1A3A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5"/>
          <p:cNvSpPr/>
          <p:nvPr/>
        </p:nvSpPr>
        <p:spPr>
          <a:xfrm>
            <a:off x="3291840" y="3035808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Autorização</a:t>
            </a:r>
            <a:endParaRPr lang="en-US" sz="8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" y="3383280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115568" y="3035808"/>
            <a:ext cx="2971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Perfis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1115568" y="342900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Secretaria, psicopedagogo e gestor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veem apenas o que lhes compete.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4754880" y="2926080"/>
            <a:ext cx="4114800" cy="1463040"/>
          </a:xfrm>
          <a:prstGeom prst="rect">
            <a:avLst/>
          </a:prstGeom>
          <a:solidFill>
            <a:srgbClr val="122D6B"/>
          </a:solidFill>
          <a:ln w="12700">
            <a:solidFill>
              <a:srgbClr val="1A3A8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4" name="Shape 19"/>
          <p:cNvSpPr/>
          <p:nvPr/>
        </p:nvSpPr>
        <p:spPr>
          <a:xfrm>
            <a:off x="7680960" y="3035808"/>
            <a:ext cx="1051560" cy="274320"/>
          </a:xfrm>
          <a:prstGeom prst="roundRect">
            <a:avLst>
              <a:gd name="adj" fmla="val 13333"/>
            </a:avLst>
          </a:prstGeom>
          <a:solidFill>
            <a:srgbClr val="1A3A8F"/>
          </a:solidFill>
          <a:ln w="12700">
            <a:solidFill>
              <a:srgbClr val="1A3A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0"/>
          <p:cNvSpPr/>
          <p:nvPr/>
        </p:nvSpPr>
        <p:spPr>
          <a:xfrm>
            <a:off x="7680960" y="3035808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Acessibilidade</a:t>
            </a:r>
            <a:endParaRPr lang="en-US" sz="800" dirty="0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9472" y="3383280"/>
            <a:ext cx="457200" cy="45720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504688" y="3035808"/>
            <a:ext cx="2971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WCAG 2.1 AA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5504688" y="342900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Contraste, navegação por teclado,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leitores de tela — inclusão real.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5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FUTURO &amp; ESCALA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SAADI de hoje é o ponto de partida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269748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2697480" cy="594360"/>
          </a:xfrm>
          <a:prstGeom prst="rect">
            <a:avLst/>
          </a:prstGeom>
          <a:solidFill>
            <a:srgbClr val="1A3A8F"/>
          </a:solidFill>
          <a:ln w="12700">
            <a:solidFill>
              <a:srgbClr val="1A3A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320040" y="116128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1426464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874520"/>
            <a:ext cx="23774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em produção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módulos integrados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multi-tenant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WCAG 2.1 AA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1143000"/>
            <a:ext cx="269748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3200400" y="1143000"/>
            <a:ext cx="2697480" cy="5943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3200400" y="116128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00400" y="1426464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6–12 meses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83280" y="1874520"/>
            <a:ext cx="23774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para triagem preliminar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mobile (iOS/Android)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de alertas automáticos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aberta para parceiros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80760" y="1143000"/>
            <a:ext cx="269748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6080760" y="1143000"/>
            <a:ext cx="2697480" cy="59436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6080760" y="116128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080760" y="1426464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12–24 meses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63640" y="1874520"/>
            <a:ext cx="23774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Parcerias com prefeituras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INEP / Censo Escolar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Relatórios preditivos por IA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Expansão nacional</a:t>
            </a:r>
            <a:endParaRPr lang="en-US" sz="1200" dirty="0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663440"/>
            <a:ext cx="365760" cy="36576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960120" y="469087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2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para triagem: redução de até 70% no tempo de avaliação inicial estimada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122D6B"/>
          </a:solidFill>
          <a:ln w="12700">
            <a:solidFill>
              <a:srgbClr val="122D6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502920" y="731520"/>
            <a:ext cx="64008" cy="2743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685800" y="64008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SAADI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685800" y="160020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 que inclui.</a:t>
            </a:r>
            <a:endParaRPr lang="en-US" sz="1900" dirty="0"/>
          </a:p>
          <a:p>
            <a:pPr marL="0" indent="0">
              <a:buNone/>
            </a:pPr>
            <a:r>
              <a:rPr lang="en-US" sz="1900" i="1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que transforma.</a:t>
            </a:r>
            <a:endParaRPr lang="en-US" sz="19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65176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78992" y="2633472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validado: 90% adotariam o SAADI</a:t>
            </a:r>
            <a:endParaRPr lang="en-US" sz="13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127248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78992" y="31089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de nível enterprise para dados de crianças</a:t>
            </a:r>
            <a:endParaRPr lang="en-US" sz="13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602736"/>
            <a:ext cx="274320" cy="2743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78992" y="358444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acessível e inclusiva (WCAG 2.1 AA)</a:t>
            </a:r>
            <a:endParaRPr lang="en-US" sz="13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078224"/>
            <a:ext cx="274320" cy="27432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78992" y="4059936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claro para IA e escala nacional</a:t>
            </a:r>
            <a:endParaRPr lang="en-US" sz="1300" dirty="0"/>
          </a:p>
        </p:txBody>
      </p:sp>
      <p:sp>
        <p:nvSpPr>
          <p:cNvPr id="15" name="Text 9"/>
          <p:cNvSpPr/>
          <p:nvPr/>
        </p:nvSpPr>
        <p:spPr>
          <a:xfrm>
            <a:off x="6400800" y="5486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DESENVOLVIDO POR</a:t>
            </a:r>
            <a:endParaRPr lang="en-US" sz="900" dirty="0"/>
          </a:p>
        </p:txBody>
      </p:sp>
      <p:sp>
        <p:nvSpPr>
          <p:cNvPr id="16" name="Shape 10"/>
          <p:cNvSpPr/>
          <p:nvPr/>
        </p:nvSpPr>
        <p:spPr>
          <a:xfrm>
            <a:off x="6492240" y="960120"/>
            <a:ext cx="2331720" cy="1143000"/>
          </a:xfrm>
          <a:prstGeom prst="rect">
            <a:avLst/>
          </a:prstGeom>
          <a:solidFill>
            <a:srgbClr val="0A1F44"/>
          </a:solidFill>
          <a:ln w="12700">
            <a:solidFill>
              <a:srgbClr val="C9A84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1078992"/>
            <a:ext cx="411480" cy="41148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7086600" y="1024128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Jair Pereira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Barcellos</a:t>
            </a:r>
            <a:endParaRPr lang="en-US" sz="1200" dirty="0"/>
          </a:p>
        </p:txBody>
      </p:sp>
      <p:sp>
        <p:nvSpPr>
          <p:cNvPr id="19" name="Text 12"/>
          <p:cNvSpPr/>
          <p:nvPr/>
        </p:nvSpPr>
        <p:spPr>
          <a:xfrm>
            <a:off x="6629400" y="153619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de Informação</a:t>
            </a:r>
            <a:endParaRPr lang="en-US" sz="1000" dirty="0"/>
          </a:p>
        </p:txBody>
      </p:sp>
      <p:sp>
        <p:nvSpPr>
          <p:cNvPr id="20" name="Shape 13"/>
          <p:cNvSpPr/>
          <p:nvPr/>
        </p:nvSpPr>
        <p:spPr>
          <a:xfrm>
            <a:off x="6492240" y="2286000"/>
            <a:ext cx="2331720" cy="1143000"/>
          </a:xfrm>
          <a:prstGeom prst="rect">
            <a:avLst/>
          </a:prstGeom>
          <a:solidFill>
            <a:srgbClr val="0A1F44"/>
          </a:solidFill>
          <a:ln w="12700">
            <a:solidFill>
              <a:srgbClr val="C9A84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2404872"/>
            <a:ext cx="411480" cy="41148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7086600" y="2350008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Lucas Fontan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Fernandes</a:t>
            </a:r>
            <a:endParaRPr lang="en-US" sz="1200" dirty="0"/>
          </a:p>
        </p:txBody>
      </p:sp>
      <p:sp>
        <p:nvSpPr>
          <p:cNvPr id="23" name="Text 15"/>
          <p:cNvSpPr/>
          <p:nvPr/>
        </p:nvSpPr>
        <p:spPr>
          <a:xfrm>
            <a:off x="6629400" y="286207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de Informação</a:t>
            </a:r>
            <a:endParaRPr lang="en-US" sz="1000" dirty="0"/>
          </a:p>
        </p:txBody>
      </p:sp>
      <p:sp>
        <p:nvSpPr>
          <p:cNvPr id="24" name="Shape 16"/>
          <p:cNvSpPr/>
          <p:nvPr/>
        </p:nvSpPr>
        <p:spPr>
          <a:xfrm>
            <a:off x="6446520" y="3547219"/>
            <a:ext cx="2468880" cy="5943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17"/>
          <p:cNvSpPr/>
          <p:nvPr/>
        </p:nvSpPr>
        <p:spPr>
          <a:xfrm>
            <a:off x="6446520" y="3679807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CESMAC</a:t>
            </a:r>
            <a:endParaRPr lang="en-US" sz="1800" dirty="0"/>
          </a:p>
        </p:txBody>
      </p:sp>
      <p:sp>
        <p:nvSpPr>
          <p:cNvPr id="26" name="Text 18"/>
          <p:cNvSpPr/>
          <p:nvPr/>
        </p:nvSpPr>
        <p:spPr>
          <a:xfrm>
            <a:off x="6400800" y="313639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 de Ensino Superior do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Médio São Francisco</a:t>
            </a:r>
            <a:endParaRPr lang="en-US" sz="900" dirty="0"/>
          </a:p>
        </p:txBody>
      </p:sp>
      <p:sp>
        <p:nvSpPr>
          <p:cNvPr id="27" name="Shape 19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0"/>
          <p:cNvSpPr/>
          <p:nvPr/>
        </p:nvSpPr>
        <p:spPr>
          <a:xfrm>
            <a:off x="365760" y="4764024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Obrigado! Vamos </a:t>
            </a:r>
            <a:r>
              <a:rPr lang="en-US" sz="1400" b="1" dirty="0" err="1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transformar</a:t>
            </a:r>
            <a:r>
              <a:rPr lang="en-US" sz="14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educação inclusiva juntos.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2074</Words>
  <Application>Microsoft Office PowerPoint</Application>
  <PresentationFormat>Apresentação na tela (16:9)</PresentationFormat>
  <Paragraphs>180</Paragraphs>
  <Slides>10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SAADI – Pitch de Negócio</dc:title>
  <dc:subject>PptxGenJS Presentation</dc:subject>
  <dc:creator>Jair Pereira Barcelos &amp; Lucas Fontan Fernandes</dc:creator>
  <cp:lastModifiedBy>LUCAS FONTAN FERNANDES</cp:lastModifiedBy>
  <cp:revision>3</cp:revision>
  <dcterms:created xsi:type="dcterms:W3CDTF">2026-05-23T15:39:29Z</dcterms:created>
  <dcterms:modified xsi:type="dcterms:W3CDTF">2026-05-23T16:13:17Z</dcterms:modified>
</cp:coreProperties>
</file>